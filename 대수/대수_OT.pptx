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소개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280160" cy="411480"/>
          </a:xfrm>
          <a:prstGeom prst="rect">
            <a:avLst/>
          </a:prstGeom>
          <a:solidFill>
            <a:srgbClr val="9EC4E8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9144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박도영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280160" cy="411480"/>
          </a:xfrm>
          <a:prstGeom prst="rect">
            <a:avLst/>
          </a:prstGeom>
          <a:solidFill>
            <a:srgbClr val="9EC4E8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교무실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5087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4층 2학년부A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280160" cy="411480"/>
          </a:xfrm>
          <a:prstGeom prst="rect">
            <a:avLst/>
          </a:prstGeom>
          <a:solidFill>
            <a:srgbClr val="9EC4E8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031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E-mail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doyeongmath@gmail.com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71800"/>
            <a:ext cx="2011680" cy="411480"/>
          </a:xfrm>
          <a:prstGeom prst="rect">
            <a:avLst/>
          </a:prstGeom>
          <a:solidFill>
            <a:srgbClr val="FFEBEE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금지사항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2971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핸드폰, 잡담, 비속어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2011680" cy="4114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허용사항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566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3931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840480" cy="109728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097280"/>
            <a:ext cx="1371600" cy="347472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주교재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A7F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291840" cy="0"/>
          </a:xfrm>
          <a:prstGeom prst="line">
            <a:avLst/>
          </a:prstGeom>
          <a:noFill/>
          <a:ln w="1016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231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2022 개정 교육과정 반영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지수함수·로그함수, 삼각함수, 수열 수록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868680"/>
            <a:ext cx="3840480" cy="3931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868680"/>
            <a:ext cx="3840480" cy="109728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74920" y="1097280"/>
            <a:ext cx="1371600" cy="347472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097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부교재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학습지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120640" y="2331720"/>
            <a:ext cx="3291840" cy="0"/>
          </a:xfrm>
          <a:prstGeom prst="line">
            <a:avLst/>
          </a:prstGeom>
          <a:noFill/>
          <a:ln w="1016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4231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개념정리 + 연습문제 수록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8529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수행평가(개념정리 포트폴리오) 대상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 공부 이유?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출제 범위 및 특이 사항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(2028학년도 수능 기준)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609344"/>
            <a:ext cx="256032" cy="256032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56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영역의 시험은 공통으로 평가하며 출제 범위는 '대수', '미적분Ⅰ', '확률과 통계'이다.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78024"/>
            <a:ext cx="256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위계성과 연계성이 강한 수학 교과의 특성상 수학 영역의 경우 출제 범위 이외 공통 과목인 '공통수학1', '공통수학2'의 내용은 간접적으로 출제 범위에 포함된다.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256032" cy="256032"/>
          </a:xfrm>
          <a:prstGeom prst="ellipse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74136"/>
            <a:ext cx="256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346704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영역은 2022 개정 수학과 교육과정을 기준으로 세분된다.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교과 체계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40080"/>
            <a:ext cx="1325880" cy="347472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6400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54480" y="640080"/>
            <a:ext cx="4434840" cy="347472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64008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640080"/>
            <a:ext cx="2331720" cy="347472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640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" y="987552"/>
            <a:ext cx="8412480" cy="246888"/>
          </a:xfrm>
          <a:prstGeom prst="rect">
            <a:avLst/>
          </a:prstGeom>
          <a:solidFill>
            <a:srgbClr val="DDE6F5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98755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공통과목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1234440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54480" y="1234440"/>
            <a:ext cx="4434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234440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" y="123444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공통수학1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1234440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다항식, 방정식과 부등식, 도형의 방정식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2344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이수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" y="1636776"/>
            <a:ext cx="132588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1636776"/>
            <a:ext cx="443484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636776"/>
            <a:ext cx="23317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63677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공통수학2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163677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집합과 명제, 함수와 그래프, 경우의 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80760" y="16367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이수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" y="2039112"/>
            <a:ext cx="8412480" cy="246888"/>
          </a:xfrm>
          <a:prstGeom prst="rect">
            <a:avLst/>
          </a:prstGeom>
          <a:solidFill>
            <a:srgbClr val="DDE6F5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039112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일반선택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37160" y="2286000"/>
            <a:ext cx="1325880" cy="402336"/>
          </a:xfrm>
          <a:prstGeom prst="rect">
            <a:avLst/>
          </a:prstGeom>
          <a:solidFill>
            <a:srgbClr val="D0E8F8"/>
          </a:solidFill>
          <a:ln w="19050">
            <a:solidFill>
              <a:srgbClr val="3A7F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54480" y="2286000"/>
            <a:ext cx="4434840" cy="402336"/>
          </a:xfrm>
          <a:prstGeom prst="rect">
            <a:avLst/>
          </a:prstGeom>
          <a:solidFill>
            <a:srgbClr val="D0E8F8"/>
          </a:solidFill>
          <a:ln w="19050">
            <a:solidFill>
              <a:srgbClr val="3A7F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2286000"/>
            <a:ext cx="2331720" cy="402336"/>
          </a:xfrm>
          <a:prstGeom prst="rect">
            <a:avLst/>
          </a:prstGeom>
          <a:solidFill>
            <a:srgbClr val="D0E8F8"/>
          </a:solidFill>
          <a:ln w="19050">
            <a:solidFill>
              <a:srgbClr val="3A7FC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" y="2286000"/>
            <a:ext cx="73152" cy="402336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22860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54480" y="2286000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지수함수와 로그함수, 삼각함수, 수열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22860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공통수학 후 선택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" y="2688336"/>
            <a:ext cx="132588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54480" y="2688336"/>
            <a:ext cx="443484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688336"/>
            <a:ext cx="23317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" y="268833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미적분Ⅰ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554480" y="268833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함수의 극한과 연속, 미분, 적분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268833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공통수학 후 선택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37160" y="3090672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4480" y="3090672"/>
            <a:ext cx="4434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0760" y="3090672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309067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확률과 통계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54480" y="3090672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경우의 수, 확률, 통계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80760" y="3090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공통수학 후 선택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37160" y="3493008"/>
            <a:ext cx="8412480" cy="246888"/>
          </a:xfrm>
          <a:prstGeom prst="rect">
            <a:avLst/>
          </a:prstGeom>
          <a:solidFill>
            <a:srgbClr val="DDE6F5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34930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진로선택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37160" y="3739896"/>
            <a:ext cx="13258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54480" y="3739896"/>
            <a:ext cx="4434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3739896"/>
            <a:ext cx="23317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373989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기하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554480" y="3739896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이차곡선, 평면벡터, 공간도형과 공간좌표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373989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2-2학기 선택과목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37160" y="4142232"/>
            <a:ext cx="132588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54480" y="4142232"/>
            <a:ext cx="443484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0760" y="4142232"/>
            <a:ext cx="2331720" cy="402336"/>
          </a:xfrm>
          <a:prstGeom prst="rect">
            <a:avLst/>
          </a:prstGeom>
          <a:solidFill>
            <a:srgbClr val="F5F7FA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414223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미적분Ⅱ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554480" y="4142232"/>
            <a:ext cx="4434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수열의 극한, 미분법, 적분법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080760" y="41422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3-1학기 선택과목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방법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120640" cy="59436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지필평가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(중간 30% + 기말 30%)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777240"/>
            <a:ext cx="3200400" cy="594360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0" y="7772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4754880" cy="292608"/>
          </a:xfrm>
          <a:prstGeom prst="rect">
            <a:avLst/>
          </a:prstGeom>
          <a:solidFill>
            <a:srgbClr val="2A5FA5"/>
          </a:solidFill>
          <a:ln w="12700">
            <a:solidFill>
              <a:srgbClr val="2A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15087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지필평가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508760"/>
            <a:ext cx="2331720" cy="292608"/>
          </a:xfrm>
          <a:prstGeom prst="rect">
            <a:avLst/>
          </a:prstGeom>
          <a:solidFill>
            <a:srgbClr val="C0420A"/>
          </a:solidFill>
          <a:ln w="12700">
            <a:solidFill>
              <a:srgbClr val="C04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" y="1801368"/>
            <a:ext cx="59436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80136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1801368"/>
            <a:ext cx="77724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80136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고사명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08760" y="1801368"/>
            <a:ext cx="96012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1801368"/>
            <a:ext cx="960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(점수/비율)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801368"/>
            <a:ext cx="91440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8013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단답형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(점수/비율)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1801368"/>
            <a:ext cx="91440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80136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(점수/비율)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97680" y="1801368"/>
            <a:ext cx="59436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180136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(비율)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1801368"/>
            <a:ext cx="86868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80136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서논술형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(점수/비율)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801368"/>
            <a:ext cx="86868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801368"/>
            <a:ext cx="868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(점수/비율)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1801368"/>
            <a:ext cx="594360" cy="47548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1801368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(비율)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" y="2276856"/>
            <a:ext cx="59436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" y="2276856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29400" y="2276856"/>
            <a:ext cx="59436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276856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" y="2276856"/>
            <a:ext cx="77724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276856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508760" y="2276856"/>
            <a:ext cx="96012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2276856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(15%)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2276856"/>
            <a:ext cx="91440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68880" y="22768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(6%)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83280" y="2276856"/>
            <a:ext cx="91440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0" y="2276856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(9%)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7680" y="2276856"/>
            <a:ext cx="59436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2276856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92040" y="2276856"/>
            <a:ext cx="86868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276856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(14%)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760720" y="2276856"/>
            <a:ext cx="868680" cy="6858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2276856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(26%)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37160" y="3054096"/>
            <a:ext cx="873252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37160" y="3054096"/>
            <a:ext cx="8732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기말고사는 중간고사와 동일합니다.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지필평가 계획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58952"/>
            <a:ext cx="292608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58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758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73152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097280"/>
            <a:ext cx="100584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097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고사명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097280"/>
            <a:ext cx="91440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1097280"/>
            <a:ext cx="91440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097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338328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173736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097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형식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444752"/>
            <a:ext cx="73152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44475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1444752"/>
            <a:ext cx="100584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14447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1444752"/>
            <a:ext cx="91440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14447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26080" y="1444752"/>
            <a:ext cx="91440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14447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1444752"/>
            <a:ext cx="338328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0" y="14447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3∼6점 소수점 차등 배점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1444752"/>
            <a:ext cx="1737360" cy="41148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5지 선다형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1929384"/>
            <a:ext cx="8412480" cy="347472"/>
          </a:xfrm>
          <a:prstGeom prst="rect">
            <a:avLst/>
          </a:prstGeom>
          <a:solidFill>
            <a:srgbClr val="EEF4FF"/>
          </a:solidFill>
          <a:ln w="10160">
            <a:solidFill>
              <a:srgbClr val="4A7F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19293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기말고사는 중간고사와 동일합니다.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2569464"/>
            <a:ext cx="292608" cy="2926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25694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" y="25694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단답형·서술형 평가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2916936"/>
            <a:ext cx="73152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9169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05840" y="2916936"/>
            <a:ext cx="100584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29169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고사명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011680" y="2916936"/>
            <a:ext cx="100584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91693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2916936"/>
            <a:ext cx="91440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29169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931920" y="2916936"/>
            <a:ext cx="91440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29169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916936"/>
            <a:ext cx="3383280" cy="34747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9169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배점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264408"/>
            <a:ext cx="731520" cy="9144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26440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05840" y="3264408"/>
            <a:ext cx="1005840" cy="9144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" y="326440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011680" y="3264408"/>
            <a:ext cx="100584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11680" y="32644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서술형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17520" y="3264408"/>
            <a:ext cx="91440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2644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2∼5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931920" y="3264408"/>
            <a:ext cx="91440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31920" y="32644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30점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846320" y="3264408"/>
            <a:ext cx="338328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264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5∼15점, 문항 내 1∼3개 소문항 포함 가능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011680" y="3721608"/>
            <a:ext cx="100584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0" y="372160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단답형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3017520" y="3721608"/>
            <a:ext cx="91440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37216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2∼5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931920" y="3721608"/>
            <a:ext cx="91440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0" y="372160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4846320" y="3721608"/>
            <a:ext cx="3383280" cy="457200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37216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문항당 3∼7점, 문항 내 1∼3개 소문항 포함 가능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74320" y="4270248"/>
            <a:ext cx="8412480" cy="347472"/>
          </a:xfrm>
          <a:prstGeom prst="rect">
            <a:avLst/>
          </a:prstGeom>
          <a:solidFill>
            <a:srgbClr val="EEF4FF"/>
          </a:solidFill>
          <a:ln w="10160">
            <a:solidFill>
              <a:srgbClr val="4A7FC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" y="427024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기말고사는 중간고사와 동일합니다.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계획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685800" cy="38404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841248"/>
            <a:ext cx="960120" cy="38404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4124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65960" y="841248"/>
            <a:ext cx="2331720" cy="38404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84124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영역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841248"/>
            <a:ext cx="2331720" cy="38404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84124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도구 및 유형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0" y="841248"/>
            <a:ext cx="1417320" cy="384048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8412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225296"/>
            <a:ext cx="685800" cy="2414016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225296"/>
            <a:ext cx="685800" cy="2414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1225296"/>
            <a:ext cx="9601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1225296"/>
            <a:ext cx="960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65960" y="1225296"/>
            <a:ext cx="23317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1225296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개념정리 포트폴리오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1225296"/>
            <a:ext cx="23317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225296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정리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29400" y="1225296"/>
            <a:ext cx="14173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122529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10점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2029968"/>
            <a:ext cx="9601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029968"/>
            <a:ext cx="960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965960" y="2029968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65960" y="2029968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문제서술 및 풀이해설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2029968"/>
            <a:ext cx="2331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2029968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발표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2029968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2029968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10점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" y="2834640"/>
            <a:ext cx="9601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2834640"/>
            <a:ext cx="960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3~7월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65960" y="2834640"/>
            <a:ext cx="23317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65960" y="2834640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상호배움 활동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97680" y="2834640"/>
            <a:ext cx="23317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2834640"/>
            <a:ext cx="2331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필기도구 / 2회 실시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629400" y="2834640"/>
            <a:ext cx="1417320" cy="80467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2834640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20점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0040" y="3639312"/>
            <a:ext cx="7726680" cy="384048"/>
          </a:xfrm>
          <a:prstGeom prst="rect">
            <a:avLst/>
          </a:prstGeom>
          <a:solidFill>
            <a:srgbClr val="EEF4FF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3931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: 40점 (수행평가 40%)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채점 기준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68096"/>
            <a:ext cx="8595360" cy="896112"/>
          </a:xfrm>
          <a:prstGeom prst="rect">
            <a:avLst/>
          </a:prstGeom>
          <a:solidFill>
            <a:srgbClr val="F5F7FA"/>
          </a:solidFill>
          <a:ln w="19050">
            <a:solidFill>
              <a:srgbClr val="4A7F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68096"/>
            <a:ext cx="8595360" cy="329184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68096"/>
            <a:ext cx="859536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개념정리 포트폴리오  (10점 만점)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배운 개념 및 문제를 수업 중에 학습지에 정리하고 그 수업 시간에 확인받음.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개념 정리를 1회 누락할 때마다 0.5점 차감 (20회 이상 미실시 시 0점 처리) / 결시자: 다음 수업까지 제출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595360" cy="2011680"/>
          </a:xfrm>
          <a:prstGeom prst="rect">
            <a:avLst/>
          </a:prstGeom>
          <a:solidFill>
            <a:srgbClr val="F5F7FA"/>
          </a:solidFill>
          <a:ln w="19050">
            <a:solidFill>
              <a:srgbClr val="E854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09928"/>
            <a:ext cx="8595360" cy="329184"/>
          </a:xfrm>
          <a:prstGeom prst="rect">
            <a:avLst/>
          </a:prstGeom>
          <a:solidFill>
            <a:srgbClr val="E8541A"/>
          </a:solidFill>
          <a:ln w="12700">
            <a:solidFill>
              <a:srgbClr val="E854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09928"/>
            <a:ext cx="859536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문제서술 및 풀이해설  (10점 만점)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07568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교실 발표: 문제 풀이 발표를 오류 없이 마칠 경우 → 발표자에게 1회 부여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36829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개인 발표: 선생님에게 찾아가 개별적으로 문제를 풀고 설명 (주 1회만 가능) → 0.5회 부여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6609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기타: 수업에 꼭 필요한 물품(교과서, 학습지 등)을 준비하지 않을 경우 → 0.5회 차감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008376"/>
            <a:ext cx="1005840" cy="30175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08376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0240" y="300837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0083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3008376"/>
            <a:ext cx="1188720" cy="30175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30083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00837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0083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3008376"/>
            <a:ext cx="1188720" cy="30175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0083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008376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30083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3319272"/>
            <a:ext cx="1005840" cy="301752"/>
          </a:xfrm>
          <a:prstGeom prst="rect">
            <a:avLst/>
          </a:prstGeom>
          <a:solidFill>
            <a:srgbClr val="9EC4E8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319272"/>
            <a:ext cx="1005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횟수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3319272"/>
            <a:ext cx="1188720" cy="30175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3319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33192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319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97680" y="3319272"/>
            <a:ext cx="1188720" cy="30175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3319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0" y="33192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319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1.5회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3319272"/>
            <a:ext cx="1188720" cy="301752"/>
          </a:xfrm>
          <a:prstGeom prst="rect">
            <a:avLst/>
          </a:prstGeom>
          <a:solidFill>
            <a:srgbClr val="E8F2FB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31927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776472"/>
            <a:ext cx="8595360" cy="896112"/>
          </a:xfrm>
          <a:prstGeom prst="rect">
            <a:avLst/>
          </a:prstGeom>
          <a:solidFill>
            <a:srgbClr val="F5F7F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776472"/>
            <a:ext cx="859536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764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상호배움 활동  (20점 만점)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11480" y="412394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2회 실시 후 평균값을 학기 말에 적용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36168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구성: 단답형 2점×8문항 = 16점 + 서술형 4점×1문항 = 4점  →  합계 20점  (서술형: 단계별 부분점수)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주제 발표 활동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57200" cy="45720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731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목적과 내용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관련 주제(수학사, 수학의 실생활 적용, 수학 개념 탐구 등)를 스스로 정하고 탐구·발표할 기회 제공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수학에 대한 긍정적인 경험과 즐거움 제공, 학업 역량 강화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대상자 및 일정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희망자는 학기당 1회 권장 : 기말고사 직후 실시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구체적인 날짜는 추후 안내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457200" cy="45720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방법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관련 자유 주제 | 발표 형식: 프레젠테이션 파일로 5분 내외 발표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중 학급별 발표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solidFill>
            <a:srgbClr val="4A7FC1"/>
          </a:solidFill>
          <a:ln w="12700">
            <a:solidFill>
              <a:srgbClr val="4A7F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C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혜택 (정성평가)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학교생활기록부 교과 세부능력 특기사항에 기록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계통도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640080"/>
            <a:ext cx="2926080" cy="457200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640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학습한 내용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" y="1097280"/>
            <a:ext cx="2926080" cy="3657600"/>
          </a:xfrm>
          <a:prstGeom prst="rect">
            <a:avLst/>
          </a:prstGeom>
          <a:solidFill>
            <a:srgbClr val="F9F5EE"/>
          </a:solidFill>
          <a:ln w="19050">
            <a:solidFill>
              <a:srgbClr val="E8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[중] 수학 1·2·3: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거듭제곱, 지수법칙, 제곱근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[고] 공통수학1: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다항식, 방정식·부등식, 도형의 방정식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[고] 공통수학2: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집합·명제, 함수, 경우의 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640080"/>
            <a:ext cx="2926080" cy="45720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640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과목의 학습 내용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926080" cy="3657600"/>
          </a:xfrm>
          <a:prstGeom prst="rect">
            <a:avLst/>
          </a:prstGeom>
          <a:solidFill>
            <a:srgbClr val="F9F5EE"/>
          </a:solidFill>
          <a:ln w="19050">
            <a:solidFill>
              <a:srgbClr val="E0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지수함수와 로그함수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지수와 로그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지수함수와 로그함수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삼각함수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삼각함수의 정의·그래프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사인·코사인법칙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수열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등차·등비수열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수열의 합 / 수학적 귀납법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640080"/>
            <a:ext cx="2926080" cy="457200"/>
          </a:xfrm>
          <a:prstGeom prst="rect">
            <a:avLst/>
          </a:prstGeom>
          <a:solidFill>
            <a:srgbClr val="3AA89E"/>
          </a:solidFill>
          <a:ln w="12700">
            <a:solidFill>
              <a:srgbClr val="3AA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640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학습할 내용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1097280"/>
            <a:ext cx="2926080" cy="3657600"/>
          </a:xfrm>
          <a:prstGeom prst="rect">
            <a:avLst/>
          </a:prstGeom>
          <a:solidFill>
            <a:srgbClr val="F9F5EE"/>
          </a:solidFill>
          <a:ln w="19050">
            <a:solidFill>
              <a:srgbClr val="3AA8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[고] 미적분Ⅰ  (2-2학기)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함수의 극한과 연속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미분, 적분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[고] 미적분Ⅱ  (3-1학기)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수열의 극한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• 미분법, 적분법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풍문고등학교  POONGMOON HIGH SCHOOL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대수 OT</dc:title>
  <dc:subject>PptxGenJS Presentation</dc:subject>
  <dc:creator>PptxGenJS</dc:creator>
  <cp:lastModifiedBy>PptxGenJS</cp:lastModifiedBy>
  <cp:revision>1</cp:revision>
  <dcterms:created xsi:type="dcterms:W3CDTF">2026-03-01T07:32:00Z</dcterms:created>
  <dcterms:modified xsi:type="dcterms:W3CDTF">2026-03-01T07:32:00Z</dcterms:modified>
</cp:coreProperties>
</file>